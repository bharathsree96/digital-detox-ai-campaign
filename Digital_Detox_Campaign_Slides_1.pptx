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C4562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120640" y="0"/>
            <a:ext cx="4023360" cy="51435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120640" y="0"/>
            <a:ext cx="4023360" cy="5143500"/>
          </a:xfrm>
          <a:prstGeom prst="rect">
            <a:avLst/>
          </a:prstGeom>
          <a:solidFill>
            <a:srgbClr val="0E1117">
              <a:alpha val="60000"/>
            </a:srgbClr>
          </a:solidFill>
          <a:ln/>
        </p:spPr>
      </p:sp>
      <p:sp>
        <p:nvSpPr>
          <p:cNvPr id="5" name="Text 2"/>
          <p:cNvSpPr/>
          <p:nvPr/>
        </p:nvSpPr>
        <p:spPr>
          <a:xfrm>
            <a:off x="457200" y="457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8A80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 PROGRAMME  ·  FINAL PROJECT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457200" y="914400"/>
            <a:ext cx="4572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Digital Detox Week</a:t>
            </a:r>
            <a:endParaRPr lang="en-US" sz="4800" dirty="0"/>
          </a:p>
        </p:txBody>
      </p:sp>
      <p:sp>
        <p:nvSpPr>
          <p:cNvPr id="7" name="Text 4"/>
          <p:cNvSpPr/>
          <p:nvPr/>
        </p:nvSpPr>
        <p:spPr>
          <a:xfrm>
            <a:off x="457200" y="2240280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i="1" dirty="0">
                <a:solidFill>
                  <a:srgbClr val="D494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Reclaim Your Mind</a:t>
            </a:r>
            <a:endParaRPr lang="en-US" sz="2800" dirty="0"/>
          </a:p>
        </p:txBody>
      </p:sp>
      <p:sp>
        <p:nvSpPr>
          <p:cNvPr id="8" name="Text 5"/>
          <p:cNvSpPr/>
          <p:nvPr/>
        </p:nvSpPr>
        <p:spPr>
          <a:xfrm>
            <a:off x="457200" y="301752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8D5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complete AI-powered social impact campaign system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57200" y="3703320"/>
            <a:ext cx="3291840" cy="256032"/>
          </a:xfrm>
          <a:prstGeom prst="rect">
            <a:avLst/>
          </a:prstGeom>
          <a:solidFill>
            <a:srgbClr val="1A1F35"/>
          </a:solidFill>
          <a:ln/>
        </p:spPr>
      </p:sp>
      <p:sp>
        <p:nvSpPr>
          <p:cNvPr id="10" name="Shape 7"/>
          <p:cNvSpPr/>
          <p:nvPr/>
        </p:nvSpPr>
        <p:spPr>
          <a:xfrm>
            <a:off x="457200" y="3703320"/>
            <a:ext cx="54864" cy="256032"/>
          </a:xfrm>
          <a:prstGeom prst="rect">
            <a:avLst/>
          </a:prstGeom>
          <a:solidFill>
            <a:srgbClr val="C4562A"/>
          </a:solidFill>
          <a:ln/>
        </p:spPr>
      </p:sp>
      <p:sp>
        <p:nvSpPr>
          <p:cNvPr id="11" name="Text 8"/>
          <p:cNvSpPr/>
          <p:nvPr/>
        </p:nvSpPr>
        <p:spPr>
          <a:xfrm>
            <a:off x="594360" y="370332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5E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1: Ethical Prompt System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57200" y="4050792"/>
            <a:ext cx="3291840" cy="256032"/>
          </a:xfrm>
          <a:prstGeom prst="rect">
            <a:avLst/>
          </a:prstGeom>
          <a:solidFill>
            <a:srgbClr val="1A1F35"/>
          </a:solidFill>
          <a:ln/>
        </p:spPr>
      </p:sp>
      <p:sp>
        <p:nvSpPr>
          <p:cNvPr id="13" name="Shape 10"/>
          <p:cNvSpPr/>
          <p:nvPr/>
        </p:nvSpPr>
        <p:spPr>
          <a:xfrm>
            <a:off x="457200" y="4050792"/>
            <a:ext cx="54864" cy="256032"/>
          </a:xfrm>
          <a:prstGeom prst="rect">
            <a:avLst/>
          </a:prstGeom>
          <a:solidFill>
            <a:srgbClr val="C4562A"/>
          </a:solidFill>
          <a:ln/>
        </p:spPr>
      </p:sp>
      <p:sp>
        <p:nvSpPr>
          <p:cNvPr id="14" name="Text 11"/>
          <p:cNvSpPr/>
          <p:nvPr/>
        </p:nvSpPr>
        <p:spPr>
          <a:xfrm>
            <a:off x="594360" y="4050792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5E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2: Visual Narrative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457200" y="4398264"/>
            <a:ext cx="3291840" cy="256032"/>
          </a:xfrm>
          <a:prstGeom prst="rect">
            <a:avLst/>
          </a:prstGeom>
          <a:solidFill>
            <a:srgbClr val="1A1F35"/>
          </a:solidFill>
          <a:ln/>
        </p:spPr>
      </p:sp>
      <p:sp>
        <p:nvSpPr>
          <p:cNvPr id="16" name="Shape 13"/>
          <p:cNvSpPr/>
          <p:nvPr/>
        </p:nvSpPr>
        <p:spPr>
          <a:xfrm>
            <a:off x="457200" y="4398264"/>
            <a:ext cx="54864" cy="256032"/>
          </a:xfrm>
          <a:prstGeom prst="rect">
            <a:avLst/>
          </a:prstGeom>
          <a:solidFill>
            <a:srgbClr val="C4562A"/>
          </a:solidFill>
          <a:ln/>
        </p:spPr>
      </p:sp>
      <p:sp>
        <p:nvSpPr>
          <p:cNvPr id="17" name="Text 14"/>
          <p:cNvSpPr/>
          <p:nvPr/>
        </p:nvSpPr>
        <p:spPr>
          <a:xfrm>
            <a:off x="594360" y="4398264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5E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3: n8n Workflow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E111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8A80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PROJECT OVERVIEW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E11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Systems. One Campaign.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457200" y="16002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8A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Detox Week — Reclaim Your Mind targets college students &amp; young professionals (18–30) who are heavy social media users, guiding them toward intentional, voluntary behaviour change.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47472" y="2377440"/>
            <a:ext cx="2697480" cy="2423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47472" y="2377440"/>
            <a:ext cx="2697480" cy="73152"/>
          </a:xfrm>
          <a:prstGeom prst="rect">
            <a:avLst/>
          </a:prstGeom>
          <a:solidFill>
            <a:srgbClr val="C4562A"/>
          </a:solidFill>
          <a:ln/>
        </p:spPr>
      </p:sp>
      <p:sp>
        <p:nvSpPr>
          <p:cNvPr id="8" name="Text 6"/>
          <p:cNvSpPr/>
          <p:nvPr/>
        </p:nvSpPr>
        <p:spPr>
          <a:xfrm>
            <a:off x="512064" y="251460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C456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512064" y="297180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E11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Ethical Prompt System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12064" y="3383280"/>
            <a:ext cx="2377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A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5-prompt emotion mapping chain + E.M.P.A.T.H. framework + 2 refinement iterations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00400" y="2377440"/>
            <a:ext cx="2697480" cy="2423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0" y="2377440"/>
            <a:ext cx="2697480" cy="73152"/>
          </a:xfrm>
          <a:prstGeom prst="rect">
            <a:avLst/>
          </a:prstGeom>
          <a:solidFill>
            <a:srgbClr val="4A7C6A"/>
          </a:solidFill>
          <a:ln/>
        </p:spPr>
      </p:sp>
      <p:sp>
        <p:nvSpPr>
          <p:cNvPr id="13" name="Text 11"/>
          <p:cNvSpPr/>
          <p:nvPr/>
        </p:nvSpPr>
        <p:spPr>
          <a:xfrm>
            <a:off x="3364992" y="251460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4A7C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3364992" y="297180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E11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Visual Narrative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364992" y="3383280"/>
            <a:ext cx="2377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A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6-scene cinematic story arc from overstimulation to transformation using AI image generation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053328" y="2377440"/>
            <a:ext cx="2697480" cy="2423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053328" y="2377440"/>
            <a:ext cx="2697480" cy="73152"/>
          </a:xfrm>
          <a:prstGeom prst="rect">
            <a:avLst/>
          </a:prstGeom>
          <a:solidFill>
            <a:srgbClr val="1A1F35"/>
          </a:solidFill>
          <a:ln/>
        </p:spPr>
      </p:sp>
      <p:sp>
        <p:nvSpPr>
          <p:cNvPr id="18" name="Text 16"/>
          <p:cNvSpPr/>
          <p:nvPr/>
        </p:nvSpPr>
        <p:spPr>
          <a:xfrm>
            <a:off x="6217920" y="251460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A1F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6217920" y="297180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E11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n8n Workflow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217920" y="3383280"/>
            <a:ext cx="2377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A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engagement: form → categorisation → personalised email → Google Sheets logging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C456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E1117">
              <a:alpha val="7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64008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0" kern="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TASK 01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143000"/>
            <a:ext cx="77724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Ethical &amp; Emotionally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Intelligent Prompt System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731520" y="324612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E8D5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Audience mapping  ·  E.M.P.A.T.H. Framework  ·  3-version campaign refinement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0" y="4754880"/>
            <a:ext cx="9144000" cy="384048"/>
          </a:xfrm>
          <a:prstGeom prst="rect">
            <a:avLst/>
          </a:prstGeom>
          <a:solidFill>
            <a:srgbClr val="0E1117">
              <a:alpha val="6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475488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D5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 Platform: ChatGPT (GPT-5.3)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E111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8A80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TASK 1  ·  STEP 1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11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5-Step Audience Emotion Mapping Chain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38988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prompt builds on the last — progressively deepening the emotional profile before any messaging is crafted.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810512" y="2148840"/>
            <a:ext cx="246888" cy="45720"/>
          </a:xfrm>
          <a:prstGeom prst="rect">
            <a:avLst/>
          </a:prstGeom>
          <a:solidFill>
            <a:srgbClr val="C4562A"/>
          </a:solidFill>
          <a:ln/>
        </p:spPr>
      </p:sp>
      <p:sp>
        <p:nvSpPr>
          <p:cNvPr id="7" name="Shape 5"/>
          <p:cNvSpPr/>
          <p:nvPr/>
        </p:nvSpPr>
        <p:spPr>
          <a:xfrm>
            <a:off x="347472" y="1828800"/>
            <a:ext cx="1444752" cy="3017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47472" y="1828800"/>
            <a:ext cx="1444752" cy="64008"/>
          </a:xfrm>
          <a:prstGeom prst="rect">
            <a:avLst/>
          </a:prstGeom>
          <a:solidFill>
            <a:srgbClr val="C4562A"/>
          </a:solidFill>
          <a:ln/>
        </p:spPr>
      </p:sp>
      <p:sp>
        <p:nvSpPr>
          <p:cNvPr id="9" name="Shape 7"/>
          <p:cNvSpPr/>
          <p:nvPr/>
        </p:nvSpPr>
        <p:spPr>
          <a:xfrm>
            <a:off x="850392" y="1938528"/>
            <a:ext cx="438912" cy="438912"/>
          </a:xfrm>
          <a:prstGeom prst="ellipse">
            <a:avLst/>
          </a:prstGeom>
          <a:solidFill>
            <a:srgbClr val="C4562A"/>
          </a:solidFill>
          <a:ln/>
        </p:spPr>
      </p:sp>
      <p:sp>
        <p:nvSpPr>
          <p:cNvPr id="10" name="Text 8"/>
          <p:cNvSpPr/>
          <p:nvPr/>
        </p:nvSpPr>
        <p:spPr>
          <a:xfrm>
            <a:off x="850392" y="193852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38912" y="2487168"/>
            <a:ext cx="12618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1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Behavioural Patterns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38912" y="3017520"/>
            <a:ext cx="1261872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A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Micro-checking, algorithm loops, phantom notifications, comparison cycling, sleep erosion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520440" y="2148840"/>
            <a:ext cx="246888" cy="45720"/>
          </a:xfrm>
          <a:prstGeom prst="rect">
            <a:avLst/>
          </a:prstGeom>
          <a:solidFill>
            <a:srgbClr val="C4562A"/>
          </a:solidFill>
          <a:ln/>
        </p:spPr>
      </p:sp>
      <p:sp>
        <p:nvSpPr>
          <p:cNvPr id="14" name="Shape 12"/>
          <p:cNvSpPr/>
          <p:nvPr/>
        </p:nvSpPr>
        <p:spPr>
          <a:xfrm>
            <a:off x="2057400" y="1828800"/>
            <a:ext cx="1444752" cy="3017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057400" y="1828800"/>
            <a:ext cx="1444752" cy="64008"/>
          </a:xfrm>
          <a:prstGeom prst="rect">
            <a:avLst/>
          </a:prstGeom>
          <a:solidFill>
            <a:srgbClr val="C4562A"/>
          </a:solidFill>
          <a:ln/>
        </p:spPr>
      </p:sp>
      <p:sp>
        <p:nvSpPr>
          <p:cNvPr id="16" name="Shape 14"/>
          <p:cNvSpPr/>
          <p:nvPr/>
        </p:nvSpPr>
        <p:spPr>
          <a:xfrm>
            <a:off x="2560320" y="1938528"/>
            <a:ext cx="438912" cy="438912"/>
          </a:xfrm>
          <a:prstGeom prst="ellipse">
            <a:avLst/>
          </a:prstGeom>
          <a:solidFill>
            <a:srgbClr val="C4562A"/>
          </a:solidFill>
          <a:ln/>
        </p:spPr>
      </p:sp>
      <p:sp>
        <p:nvSpPr>
          <p:cNvPr id="17" name="Text 15"/>
          <p:cNvSpPr/>
          <p:nvPr/>
        </p:nvSpPr>
        <p:spPr>
          <a:xfrm>
            <a:off x="2560320" y="193852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2148840" y="2487168"/>
            <a:ext cx="12618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1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Emotional Consequences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148840" y="3017520"/>
            <a:ext cx="1261872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A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Cognitive restlessness, anticipatory tension, emotional volatility, quiet self-doubt, mental fatigue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230368" y="2148840"/>
            <a:ext cx="246888" cy="45720"/>
          </a:xfrm>
          <a:prstGeom prst="rect">
            <a:avLst/>
          </a:prstGeom>
          <a:solidFill>
            <a:srgbClr val="C4562A"/>
          </a:solidFill>
          <a:ln/>
        </p:spPr>
      </p:sp>
      <p:sp>
        <p:nvSpPr>
          <p:cNvPr id="21" name="Shape 19"/>
          <p:cNvSpPr/>
          <p:nvPr/>
        </p:nvSpPr>
        <p:spPr>
          <a:xfrm>
            <a:off x="3767328" y="1828800"/>
            <a:ext cx="1444752" cy="3017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767328" y="1828800"/>
            <a:ext cx="1444752" cy="64008"/>
          </a:xfrm>
          <a:prstGeom prst="rect">
            <a:avLst/>
          </a:prstGeom>
          <a:solidFill>
            <a:srgbClr val="C4562A"/>
          </a:solidFill>
          <a:ln/>
        </p:spPr>
      </p:sp>
      <p:sp>
        <p:nvSpPr>
          <p:cNvPr id="23" name="Shape 21"/>
          <p:cNvSpPr/>
          <p:nvPr/>
        </p:nvSpPr>
        <p:spPr>
          <a:xfrm>
            <a:off x="4270248" y="1938528"/>
            <a:ext cx="438912" cy="438912"/>
          </a:xfrm>
          <a:prstGeom prst="ellipse">
            <a:avLst/>
          </a:prstGeom>
          <a:solidFill>
            <a:srgbClr val="C4562A"/>
          </a:solidFill>
          <a:ln/>
        </p:spPr>
      </p:sp>
      <p:sp>
        <p:nvSpPr>
          <p:cNvPr id="24" name="Text 22"/>
          <p:cNvSpPr/>
          <p:nvPr/>
        </p:nvSpPr>
        <p:spPr>
          <a:xfrm>
            <a:off x="4270248" y="193852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3858768" y="2487168"/>
            <a:ext cx="12618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1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Psychological Triggers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858768" y="3017520"/>
            <a:ext cx="1261872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A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 reward reinforcement, dopamine loops, FOMO, identity feedback loops, automatic habits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6940296" y="2148840"/>
            <a:ext cx="246888" cy="45720"/>
          </a:xfrm>
          <a:prstGeom prst="rect">
            <a:avLst/>
          </a:prstGeom>
          <a:solidFill>
            <a:srgbClr val="C4562A"/>
          </a:solidFill>
          <a:ln/>
        </p:spPr>
      </p:sp>
      <p:sp>
        <p:nvSpPr>
          <p:cNvPr id="28" name="Shape 26"/>
          <p:cNvSpPr/>
          <p:nvPr/>
        </p:nvSpPr>
        <p:spPr>
          <a:xfrm>
            <a:off x="5477256" y="1828800"/>
            <a:ext cx="1444752" cy="3017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5477256" y="1828800"/>
            <a:ext cx="1444752" cy="64008"/>
          </a:xfrm>
          <a:prstGeom prst="rect">
            <a:avLst/>
          </a:prstGeom>
          <a:solidFill>
            <a:srgbClr val="C4562A"/>
          </a:solidFill>
          <a:ln/>
        </p:spPr>
      </p:sp>
      <p:sp>
        <p:nvSpPr>
          <p:cNvPr id="30" name="Shape 28"/>
          <p:cNvSpPr/>
          <p:nvPr/>
        </p:nvSpPr>
        <p:spPr>
          <a:xfrm>
            <a:off x="5980176" y="1938528"/>
            <a:ext cx="438912" cy="438912"/>
          </a:xfrm>
          <a:prstGeom prst="ellipse">
            <a:avLst/>
          </a:prstGeom>
          <a:solidFill>
            <a:srgbClr val="C4562A"/>
          </a:solidFill>
          <a:ln/>
        </p:spPr>
      </p:sp>
      <p:sp>
        <p:nvSpPr>
          <p:cNvPr id="31" name="Text 29"/>
          <p:cNvSpPr/>
          <p:nvPr/>
        </p:nvSpPr>
        <p:spPr>
          <a:xfrm>
            <a:off x="5980176" y="193852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5568696" y="2487168"/>
            <a:ext cx="12618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1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Guilt vs Habit Conflict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568696" y="3017520"/>
            <a:ext cx="1261872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A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Dual-process theory — immediate comfort vs delayed regret, rationalisation, emotional numbing as escape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7187184" y="1828800"/>
            <a:ext cx="1444752" cy="3017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7187184" y="1828800"/>
            <a:ext cx="1444752" cy="64008"/>
          </a:xfrm>
          <a:prstGeom prst="rect">
            <a:avLst/>
          </a:prstGeom>
          <a:solidFill>
            <a:srgbClr val="C4562A"/>
          </a:solidFill>
          <a:ln/>
        </p:spPr>
      </p:sp>
      <p:sp>
        <p:nvSpPr>
          <p:cNvPr id="36" name="Shape 34"/>
          <p:cNvSpPr/>
          <p:nvPr/>
        </p:nvSpPr>
        <p:spPr>
          <a:xfrm>
            <a:off x="7690104" y="1938528"/>
            <a:ext cx="438912" cy="438912"/>
          </a:xfrm>
          <a:prstGeom prst="ellipse">
            <a:avLst/>
          </a:prstGeom>
          <a:solidFill>
            <a:srgbClr val="C4562A"/>
          </a:solidFill>
          <a:ln/>
        </p:spPr>
      </p:sp>
      <p:sp>
        <p:nvSpPr>
          <p:cNvPr id="37" name="Text 35"/>
          <p:cNvSpPr/>
          <p:nvPr/>
        </p:nvSpPr>
        <p:spPr>
          <a:xfrm>
            <a:off x="7690104" y="193852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7278624" y="2487168"/>
            <a:ext cx="12618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1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Motivational Levers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7278624" y="3017520"/>
            <a:ext cx="1261872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A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Autonomy (SDT), identity shift, small wins (Progress Principle), community commitment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E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456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8A80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TASK 1  ·  STEP 2  ·  NAMED FRAMEWORK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E.M.P.A.T.H. Framework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111556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D49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Empathy-Centred Human Outreach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47472" y="1554480"/>
            <a:ext cx="2743200" cy="1508760"/>
          </a:xfrm>
          <a:prstGeom prst="rect">
            <a:avLst/>
          </a:prstGeom>
          <a:solidFill>
            <a:srgbClr val="1A1F35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47472" y="1554480"/>
            <a:ext cx="502920" cy="1508760"/>
          </a:xfrm>
          <a:prstGeom prst="rect">
            <a:avLst/>
          </a:prstGeom>
          <a:solidFill>
            <a:srgbClr val="C4562A"/>
          </a:solidFill>
          <a:ln/>
        </p:spPr>
      </p:sp>
      <p:sp>
        <p:nvSpPr>
          <p:cNvPr id="8" name="Text 6"/>
          <p:cNvSpPr/>
          <p:nvPr/>
        </p:nvSpPr>
        <p:spPr>
          <a:xfrm>
            <a:off x="347472" y="1554480"/>
            <a:ext cx="5029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941832" y="1691640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ED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Establish Social Context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41832" y="2084832"/>
            <a:ext cx="2057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 digital overuse as systemic, not personal failure. Audience feels understood, not blamed.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27832" y="1554480"/>
            <a:ext cx="2743200" cy="1508760"/>
          </a:xfrm>
          <a:prstGeom prst="rect">
            <a:avLst/>
          </a:prstGeom>
          <a:solidFill>
            <a:srgbClr val="1A1F35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27832" y="1554480"/>
            <a:ext cx="502920" cy="1508760"/>
          </a:xfrm>
          <a:prstGeom prst="rect">
            <a:avLst/>
          </a:prstGeom>
          <a:solidFill>
            <a:srgbClr val="C4562A"/>
          </a:solidFill>
          <a:ln/>
        </p:spPr>
      </p:sp>
      <p:sp>
        <p:nvSpPr>
          <p:cNvPr id="13" name="Text 11"/>
          <p:cNvSpPr/>
          <p:nvPr/>
        </p:nvSpPr>
        <p:spPr>
          <a:xfrm>
            <a:off x="3227832" y="1554480"/>
            <a:ext cx="5029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3822192" y="1691640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ED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 Persona Empathy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822192" y="2084832"/>
            <a:ext cx="2057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 one specific individual — someone who already feels mild guilt but lacks motivation to change.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108192" y="1554480"/>
            <a:ext cx="2743200" cy="1508760"/>
          </a:xfrm>
          <a:prstGeom prst="rect">
            <a:avLst/>
          </a:prstGeom>
          <a:solidFill>
            <a:srgbClr val="1A1F35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08192" y="1554480"/>
            <a:ext cx="502920" cy="1508760"/>
          </a:xfrm>
          <a:prstGeom prst="rect">
            <a:avLst/>
          </a:prstGeom>
          <a:solidFill>
            <a:srgbClr val="C4562A"/>
          </a:solidFill>
          <a:ln/>
        </p:spPr>
      </p:sp>
      <p:sp>
        <p:nvSpPr>
          <p:cNvPr id="18" name="Text 16"/>
          <p:cNvSpPr/>
          <p:nvPr/>
        </p:nvSpPr>
        <p:spPr>
          <a:xfrm>
            <a:off x="6108192" y="1554480"/>
            <a:ext cx="5029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6702552" y="1691640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ED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Provide Ethical Guardrails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702552" y="2084832"/>
            <a:ext cx="2057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shame, no fear, no false urgency. All messaging must be compassionate and defensible.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47472" y="3200400"/>
            <a:ext cx="2743200" cy="1508760"/>
          </a:xfrm>
          <a:prstGeom prst="rect">
            <a:avLst/>
          </a:prstGeom>
          <a:solidFill>
            <a:srgbClr val="1A1F35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47472" y="3200400"/>
            <a:ext cx="502920" cy="1508760"/>
          </a:xfrm>
          <a:prstGeom prst="rect">
            <a:avLst/>
          </a:prstGeom>
          <a:solidFill>
            <a:srgbClr val="C4562A"/>
          </a:solidFill>
          <a:ln/>
        </p:spPr>
      </p:sp>
      <p:sp>
        <p:nvSpPr>
          <p:cNvPr id="23" name="Text 21"/>
          <p:cNvSpPr/>
          <p:nvPr/>
        </p:nvSpPr>
        <p:spPr>
          <a:xfrm>
            <a:off x="347472" y="3200400"/>
            <a:ext cx="5029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941832" y="3337560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ED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Adjust Emotional Escalation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941832" y="3730752"/>
            <a:ext cx="2057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Recognition → Understanding → Possibility → Invitation. Gradual, never forceful.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227832" y="3200400"/>
            <a:ext cx="2743200" cy="1508760"/>
          </a:xfrm>
          <a:prstGeom prst="rect">
            <a:avLst/>
          </a:prstGeom>
          <a:solidFill>
            <a:srgbClr val="1A1F35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227832" y="3200400"/>
            <a:ext cx="502920" cy="1508760"/>
          </a:xfrm>
          <a:prstGeom prst="rect">
            <a:avLst/>
          </a:prstGeom>
          <a:solidFill>
            <a:srgbClr val="C4562A"/>
          </a:solidFill>
          <a:ln/>
        </p:spPr>
      </p:sp>
      <p:sp>
        <p:nvSpPr>
          <p:cNvPr id="28" name="Text 26"/>
          <p:cNvSpPr/>
          <p:nvPr/>
        </p:nvSpPr>
        <p:spPr>
          <a:xfrm>
            <a:off x="3227832" y="3200400"/>
            <a:ext cx="5029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</a:t>
            </a:r>
            <a:endParaRPr lang="en-US" sz="2800" dirty="0"/>
          </a:p>
        </p:txBody>
      </p:sp>
      <p:sp>
        <p:nvSpPr>
          <p:cNvPr id="29" name="Text 27"/>
          <p:cNvSpPr/>
          <p:nvPr/>
        </p:nvSpPr>
        <p:spPr>
          <a:xfrm>
            <a:off x="3822192" y="3337560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ED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Transform into Structured Output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3822192" y="3730752"/>
            <a:ext cx="2057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Headline (12 words) · Script (350 words) · 3 Statements · CTA (1–2 sentences).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108192" y="3200400"/>
            <a:ext cx="2743200" cy="1508760"/>
          </a:xfrm>
          <a:prstGeom prst="rect">
            <a:avLst/>
          </a:prstGeom>
          <a:solidFill>
            <a:srgbClr val="1A1F35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108192" y="3200400"/>
            <a:ext cx="502920" cy="1508760"/>
          </a:xfrm>
          <a:prstGeom prst="rect">
            <a:avLst/>
          </a:prstGeom>
          <a:solidFill>
            <a:srgbClr val="C4562A"/>
          </a:solidFill>
          <a:ln/>
        </p:spPr>
      </p:sp>
      <p:sp>
        <p:nvSpPr>
          <p:cNvPr id="33" name="Text 31"/>
          <p:cNvSpPr/>
          <p:nvPr/>
        </p:nvSpPr>
        <p:spPr>
          <a:xfrm>
            <a:off x="6108192" y="3200400"/>
            <a:ext cx="5029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</a:t>
            </a:r>
            <a:endParaRPr lang="en-US" sz="2800" dirty="0"/>
          </a:p>
        </p:txBody>
      </p:sp>
      <p:sp>
        <p:nvSpPr>
          <p:cNvPr id="34" name="Text 32"/>
          <p:cNvSpPr/>
          <p:nvPr/>
        </p:nvSpPr>
        <p:spPr>
          <a:xfrm>
            <a:off x="6702552" y="3337560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ED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Humanise the Call-to-Action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702552" y="3730752"/>
            <a:ext cx="2057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CTA feels like a peer invitation — never a command. Safety, possibility, personal choice.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E111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8A80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TASK 1  ·  VERSION 3  ·  FINAL CAMPAIGN OUTPUT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365760" y="822960"/>
            <a:ext cx="8412480" cy="914400"/>
          </a:xfrm>
          <a:prstGeom prst="rect">
            <a:avLst/>
          </a:prstGeom>
          <a:solidFill>
            <a:srgbClr val="0E1117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822960"/>
            <a:ext cx="91440" cy="914400"/>
          </a:xfrm>
          <a:prstGeom prst="rect">
            <a:avLst/>
          </a:prstGeom>
          <a:solidFill>
            <a:srgbClr val="C4562A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82296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ED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Reclaim Your Mind: A Week to Step Back From the Scroll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365760" y="1874520"/>
            <a:ext cx="502920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874520"/>
            <a:ext cx="5029200" cy="64008"/>
          </a:xfrm>
          <a:prstGeom prst="rect">
            <a:avLst/>
          </a:prstGeom>
          <a:solidFill>
            <a:srgbClr val="4A7C6A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196596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8A80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NARRATIVE SCRIPT (EXCERPT)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02920" y="2286000"/>
            <a:ext cx="47091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3A3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wake up and reach for your phone before your mind is fully awake. It happens almost automatically. A quick check can sometimes stretch into more time than you expected...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i="1" dirty="0">
                <a:solidFill>
                  <a:srgbClr val="3A3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small interruptions don't always feel like decisions. They simply blend into the rhythm of the day.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i="1" dirty="0">
                <a:solidFill>
                  <a:srgbClr val="3A3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phone will always be there. The real question is how much of your time you want to share with it.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577840" y="1874520"/>
            <a:ext cx="320040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577840" y="1874520"/>
            <a:ext cx="3200400" cy="64008"/>
          </a:xfrm>
          <a:prstGeom prst="rect">
            <a:avLst/>
          </a:prstGeom>
          <a:solidFill>
            <a:srgbClr val="C4562A"/>
          </a:solidFill>
          <a:ln/>
        </p:spPr>
      </p:sp>
      <p:sp>
        <p:nvSpPr>
          <p:cNvPr id="13" name="Text 11"/>
          <p:cNvSpPr/>
          <p:nvPr/>
        </p:nvSpPr>
        <p:spPr>
          <a:xfrm>
            <a:off x="5715000" y="196596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8A80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AWARENESS STATEMENTS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687568" y="2340864"/>
            <a:ext cx="201168" cy="201168"/>
          </a:xfrm>
          <a:prstGeom prst="ellipse">
            <a:avLst/>
          </a:prstGeom>
          <a:solidFill>
            <a:srgbClr val="C4562A"/>
          </a:solidFill>
          <a:ln/>
        </p:spPr>
      </p:sp>
      <p:sp>
        <p:nvSpPr>
          <p:cNvPr id="15" name="Text 13"/>
          <p:cNvSpPr/>
          <p:nvPr/>
        </p:nvSpPr>
        <p:spPr>
          <a:xfrm>
            <a:off x="5961888" y="2304288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3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digital platforms include features like notifications and infinite scrolling that make frequent phone-checking habitual.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687568" y="2999232"/>
            <a:ext cx="201168" cy="201168"/>
          </a:xfrm>
          <a:prstGeom prst="ellipse">
            <a:avLst/>
          </a:prstGeom>
          <a:solidFill>
            <a:srgbClr val="C4562A"/>
          </a:solidFill>
          <a:ln/>
        </p:spPr>
      </p:sp>
      <p:sp>
        <p:nvSpPr>
          <p:cNvPr id="17" name="Text 15"/>
          <p:cNvSpPr/>
          <p:nvPr/>
        </p:nvSpPr>
        <p:spPr>
          <a:xfrm>
            <a:off x="5961888" y="2962656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3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Frequent smartphone interruptions can reduce sustained attention and increase mental fatigue.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687568" y="3657600"/>
            <a:ext cx="201168" cy="201168"/>
          </a:xfrm>
          <a:prstGeom prst="ellipse">
            <a:avLst/>
          </a:prstGeom>
          <a:solidFill>
            <a:srgbClr val="C4562A"/>
          </a:solidFill>
          <a:ln/>
        </p:spPr>
      </p:sp>
      <p:sp>
        <p:nvSpPr>
          <p:cNvPr id="19" name="Text 17"/>
          <p:cNvSpPr/>
          <p:nvPr/>
        </p:nvSpPr>
        <p:spPr>
          <a:xfrm>
            <a:off x="5961888" y="3621024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3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short phone-free breaks can help people feel more focused and mentally refreshed.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577840" y="4297680"/>
            <a:ext cx="3200400" cy="438912"/>
          </a:xfrm>
          <a:prstGeom prst="rect">
            <a:avLst/>
          </a:prstGeom>
          <a:solidFill>
            <a:srgbClr val="C4562A"/>
          </a:solidFill>
          <a:ln/>
        </p:spPr>
      </p:sp>
      <p:sp>
        <p:nvSpPr>
          <p:cNvPr id="21" name="Text 19"/>
          <p:cNvSpPr/>
          <p:nvPr/>
        </p:nvSpPr>
        <p:spPr>
          <a:xfrm>
            <a:off x="5650992" y="4297680"/>
            <a:ext cx="3017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Invitational CTA — not directive. Personal choice.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E111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8A80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TASK 1  ·  STEP 3  ·  META-PROMPT REFINEMENT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11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V1 to V3 — What Changed &amp; Why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508760"/>
            <a:ext cx="2651760" cy="594360"/>
          </a:xfrm>
          <a:prstGeom prst="rect">
            <a:avLst/>
          </a:prstGeom>
          <a:solidFill>
            <a:srgbClr val="8A8070"/>
          </a:solidFill>
          <a:ln/>
        </p:spPr>
      </p:sp>
      <p:sp>
        <p:nvSpPr>
          <p:cNvPr id="6" name="Text 4"/>
          <p:cNvSpPr/>
          <p:nvPr/>
        </p:nvSpPr>
        <p:spPr>
          <a:xfrm>
            <a:off x="475488" y="150876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V1 — Initial Output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017520" y="1737360"/>
            <a:ext cx="201168" cy="54864"/>
          </a:xfrm>
          <a:prstGeom prst="rect">
            <a:avLst/>
          </a:prstGeom>
          <a:solidFill>
            <a:srgbClr val="C4562A"/>
          </a:solidFill>
          <a:ln/>
        </p:spPr>
      </p:sp>
      <p:sp>
        <p:nvSpPr>
          <p:cNvPr id="8" name="Shape 6"/>
          <p:cNvSpPr/>
          <p:nvPr/>
        </p:nvSpPr>
        <p:spPr>
          <a:xfrm>
            <a:off x="3218688" y="1508760"/>
            <a:ext cx="2651760" cy="594360"/>
          </a:xfrm>
          <a:prstGeom prst="rect">
            <a:avLst/>
          </a:prstGeom>
          <a:solidFill>
            <a:srgbClr val="4A7C6A"/>
          </a:solidFill>
          <a:ln/>
        </p:spPr>
      </p:sp>
      <p:sp>
        <p:nvSpPr>
          <p:cNvPr id="9" name="Text 7"/>
          <p:cNvSpPr/>
          <p:nvPr/>
        </p:nvSpPr>
        <p:spPr>
          <a:xfrm>
            <a:off x="3328416" y="150876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V2 — After AI Critique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870448" y="1737360"/>
            <a:ext cx="201168" cy="54864"/>
          </a:xfrm>
          <a:prstGeom prst="rect">
            <a:avLst/>
          </a:prstGeom>
          <a:solidFill>
            <a:srgbClr val="C4562A"/>
          </a:solidFill>
          <a:ln/>
        </p:spPr>
      </p:sp>
      <p:sp>
        <p:nvSpPr>
          <p:cNvPr id="11" name="Shape 9"/>
          <p:cNvSpPr/>
          <p:nvPr/>
        </p:nvSpPr>
        <p:spPr>
          <a:xfrm>
            <a:off x="6071616" y="1508760"/>
            <a:ext cx="2651760" cy="594360"/>
          </a:xfrm>
          <a:prstGeom prst="rect">
            <a:avLst/>
          </a:prstGeom>
          <a:solidFill>
            <a:srgbClr val="C4562A"/>
          </a:solidFill>
          <a:ln/>
        </p:spPr>
      </p:sp>
      <p:sp>
        <p:nvSpPr>
          <p:cNvPr id="12" name="Text 10"/>
          <p:cNvSpPr/>
          <p:nvPr/>
        </p:nvSpPr>
        <p:spPr>
          <a:xfrm>
            <a:off x="6181344" y="150876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V3 — Final Version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65760" y="2286000"/>
            <a:ext cx="2651760" cy="26334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65760" y="2286000"/>
            <a:ext cx="2651760" cy="54864"/>
          </a:xfrm>
          <a:prstGeom prst="rect">
            <a:avLst/>
          </a:prstGeom>
          <a:solidFill>
            <a:srgbClr val="C4562A"/>
          </a:solidFill>
          <a:ln/>
        </p:spPr>
      </p:sp>
      <p:sp>
        <p:nvSpPr>
          <p:cNvPr id="15" name="Text 13"/>
          <p:cNvSpPr/>
          <p:nvPr/>
        </p:nvSpPr>
        <p:spPr>
          <a:xfrm>
            <a:off x="502920" y="237744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8A80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ORIGINAL: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502920" y="2587752"/>
            <a:ext cx="2377440" cy="457200"/>
          </a:xfrm>
          <a:prstGeom prst="rect">
            <a:avLst/>
          </a:prstGeom>
          <a:solidFill>
            <a:srgbClr val="F5EDD8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2587752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3A30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"attention still belongs to you"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02920" y="312724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A7C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CHANGED TO: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02920" y="3337560"/>
            <a:ext cx="2377440" cy="457200"/>
          </a:xfrm>
          <a:prstGeom prst="rect">
            <a:avLst/>
          </a:prstGeom>
          <a:solidFill>
            <a:srgbClr val="EAF5F0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33375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A7C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"attention is something you can gradually reclaim"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02920" y="3858768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emotional oversimplification — acknowledges change as gradual, not instant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218688" y="2286000"/>
            <a:ext cx="2651760" cy="26334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218688" y="2286000"/>
            <a:ext cx="2651760" cy="54864"/>
          </a:xfrm>
          <a:prstGeom prst="rect">
            <a:avLst/>
          </a:prstGeom>
          <a:solidFill>
            <a:srgbClr val="C4562A"/>
          </a:solidFill>
          <a:ln/>
        </p:spPr>
      </p:sp>
      <p:sp>
        <p:nvSpPr>
          <p:cNvPr id="24" name="Text 22"/>
          <p:cNvSpPr/>
          <p:nvPr/>
        </p:nvSpPr>
        <p:spPr>
          <a:xfrm>
            <a:off x="3355848" y="237744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8A80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ORIGINAL: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355848" y="2587752"/>
            <a:ext cx="2377440" cy="457200"/>
          </a:xfrm>
          <a:prstGeom prst="rect">
            <a:avLst/>
          </a:prstGeom>
          <a:solidFill>
            <a:srgbClr val="F5EDD8"/>
          </a:solidFill>
          <a:ln/>
        </p:spPr>
      </p:sp>
      <p:sp>
        <p:nvSpPr>
          <p:cNvPr id="26" name="Text 24"/>
          <p:cNvSpPr/>
          <p:nvPr/>
        </p:nvSpPr>
        <p:spPr>
          <a:xfrm>
            <a:off x="3401568" y="2587752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3A30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"every moment needs to belong to it"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355848" y="312724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A7C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CHANGED TO: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3355848" y="3337560"/>
            <a:ext cx="2377440" cy="457200"/>
          </a:xfrm>
          <a:prstGeom prst="rect">
            <a:avLst/>
          </a:prstGeom>
          <a:solidFill>
            <a:srgbClr val="EAF5F0"/>
          </a:solidFill>
          <a:ln/>
        </p:spPr>
      </p:sp>
      <p:sp>
        <p:nvSpPr>
          <p:cNvPr id="29" name="Text 27"/>
          <p:cNvSpPr/>
          <p:nvPr/>
        </p:nvSpPr>
        <p:spPr>
          <a:xfrm>
            <a:off x="3401568" y="33375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A7C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"how much of your time you want to share with it"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3355848" y="3858768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Reframes as personal choice rather than loss of control — aligns with autonomy principle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071616" y="2286000"/>
            <a:ext cx="2651760" cy="26334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071616" y="2286000"/>
            <a:ext cx="2651760" cy="54864"/>
          </a:xfrm>
          <a:prstGeom prst="rect">
            <a:avLst/>
          </a:prstGeom>
          <a:solidFill>
            <a:srgbClr val="C4562A"/>
          </a:solidFill>
          <a:ln/>
        </p:spPr>
      </p:sp>
      <p:sp>
        <p:nvSpPr>
          <p:cNvPr id="33" name="Text 31"/>
          <p:cNvSpPr/>
          <p:nvPr/>
        </p:nvSpPr>
        <p:spPr>
          <a:xfrm>
            <a:off x="6208776" y="237744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8A80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ORIGINAL: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6208776" y="2587752"/>
            <a:ext cx="2377440" cy="457200"/>
          </a:xfrm>
          <a:prstGeom prst="rect">
            <a:avLst/>
          </a:prstGeom>
          <a:solidFill>
            <a:srgbClr val="F5EDD8"/>
          </a:solidFill>
          <a:ln/>
        </p:spPr>
      </p:sp>
      <p:sp>
        <p:nvSpPr>
          <p:cNvPr id="35" name="Text 33"/>
          <p:cNvSpPr/>
          <p:nvPr/>
        </p:nvSpPr>
        <p:spPr>
          <a:xfrm>
            <a:off x="6254496" y="2587752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3A30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"quick check turns into ten minutes"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208776" y="312724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A7C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CHANGED TO: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6208776" y="3337560"/>
            <a:ext cx="2377440" cy="457200"/>
          </a:xfrm>
          <a:prstGeom prst="rect">
            <a:avLst/>
          </a:prstGeom>
          <a:solidFill>
            <a:srgbClr val="EAF5F0"/>
          </a:solidFill>
          <a:ln/>
        </p:spPr>
      </p:sp>
      <p:sp>
        <p:nvSpPr>
          <p:cNvPr id="38" name="Text 36"/>
          <p:cNvSpPr/>
          <p:nvPr/>
        </p:nvSpPr>
        <p:spPr>
          <a:xfrm>
            <a:off x="6254496" y="33375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A7C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"sometimes stretches into more time than you expected"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208776" y="3858768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Conditional language — stops projecting universal behaviour onto all audience members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E1117">
              <a:alpha val="7000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4A7C6A"/>
          </a:solidFill>
          <a:ln/>
        </p:spPr>
      </p:sp>
      <p:sp>
        <p:nvSpPr>
          <p:cNvPr id="5" name="Text 2"/>
          <p:cNvSpPr/>
          <p:nvPr/>
        </p:nvSpPr>
        <p:spPr>
          <a:xfrm>
            <a:off x="457200" y="6400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0" kern="0" dirty="0">
                <a:solidFill>
                  <a:srgbClr val="F5ED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TASK 02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457200" y="1097280"/>
            <a:ext cx="77724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6-Scene Visual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Awareness Narrative</a:t>
            </a:r>
            <a:endParaRPr lang="en-US" sz="4400" dirty="0"/>
          </a:p>
        </p:txBody>
      </p:sp>
      <p:sp>
        <p:nvSpPr>
          <p:cNvPr id="7" name="Text 4"/>
          <p:cNvSpPr/>
          <p:nvPr/>
        </p:nvSpPr>
        <p:spPr>
          <a:xfrm>
            <a:off x="457200" y="338328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D5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AI-generated cinematic imagery · Consistent character identity · Cold→Warm colour arc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0" y="4754880"/>
            <a:ext cx="9144000" cy="393192"/>
          </a:xfrm>
          <a:prstGeom prst="rect">
            <a:avLst/>
          </a:prstGeom>
          <a:solidFill>
            <a:srgbClr val="0E1117">
              <a:alpha val="60000"/>
            </a:srgbClr>
          </a:solidFill>
          <a:ln/>
        </p:spPr>
      </p:sp>
      <p:sp>
        <p:nvSpPr>
          <p:cNvPr id="9" name="Text 6"/>
          <p:cNvSpPr/>
          <p:nvPr/>
        </p:nvSpPr>
        <p:spPr>
          <a:xfrm>
            <a:off x="457200" y="4754880"/>
            <a:ext cx="8686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D5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 Platform: Gemini  ·  Style: Realistic Cinematic  ·  Character: Indian female student, 18–21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E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A1F3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8A80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TASK 2  ·  THE COMPLETE VISUAL ARC</a:t>
            </a:r>
            <a:endParaRPr lang="en-US" sz="9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28600" y="685800"/>
            <a:ext cx="2743200" cy="16002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228600" y="1920240"/>
            <a:ext cx="2743200" cy="365760"/>
          </a:xfrm>
          <a:prstGeom prst="rect">
            <a:avLst/>
          </a:prstGeom>
          <a:solidFill>
            <a:srgbClr val="0E1117">
              <a:alpha val="80000"/>
            </a:srgbClr>
          </a:solidFill>
          <a:ln/>
        </p:spPr>
      </p:sp>
      <p:sp>
        <p:nvSpPr>
          <p:cNvPr id="6" name="Text 3"/>
          <p:cNvSpPr/>
          <p:nvPr/>
        </p:nvSpPr>
        <p:spPr>
          <a:xfrm>
            <a:off x="320040" y="1947672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Scene 01  Overstimulation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246888" y="231343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Cold Blue — Late Night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2377440" y="2313432"/>
            <a:ext cx="594360" cy="219456"/>
          </a:xfrm>
          <a:prstGeom prst="rect">
            <a:avLst/>
          </a:prstGeom>
          <a:solidFill>
            <a:srgbClr val="C4562A"/>
          </a:solidFill>
          <a:ln/>
        </p:spPr>
      </p:sp>
      <p:sp>
        <p:nvSpPr>
          <p:cNvPr id="9" name="Text 6"/>
          <p:cNvSpPr/>
          <p:nvPr/>
        </p:nvSpPr>
        <p:spPr>
          <a:xfrm>
            <a:off x="2377440" y="2313432"/>
            <a:ext cx="594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Refined</a:t>
            </a:r>
            <a:endParaRPr lang="en-US" sz="8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3172968" y="685800"/>
            <a:ext cx="2743200" cy="160020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3172968" y="1920240"/>
            <a:ext cx="2743200" cy="365760"/>
          </a:xfrm>
          <a:prstGeom prst="rect">
            <a:avLst/>
          </a:prstGeom>
          <a:solidFill>
            <a:srgbClr val="0E1117">
              <a:alpha val="80000"/>
            </a:srgbClr>
          </a:solidFill>
          <a:ln/>
        </p:spPr>
      </p:sp>
      <p:sp>
        <p:nvSpPr>
          <p:cNvPr id="12" name="Text 8"/>
          <p:cNvSpPr/>
          <p:nvPr/>
        </p:nvSpPr>
        <p:spPr>
          <a:xfrm>
            <a:off x="3264408" y="1947672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Scene 02  Emotional Fatigue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3191256" y="231343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Muted Warm — Quiet Café</a:t>
            </a:r>
            <a:endParaRPr lang="en-US" sz="850" dirty="0"/>
          </a:p>
        </p:txBody>
      </p:sp>
      <p:sp>
        <p:nvSpPr>
          <p:cNvPr id="14" name="Shape 10"/>
          <p:cNvSpPr/>
          <p:nvPr/>
        </p:nvSpPr>
        <p:spPr>
          <a:xfrm>
            <a:off x="5321808" y="2313432"/>
            <a:ext cx="594360" cy="219456"/>
          </a:xfrm>
          <a:prstGeom prst="rect">
            <a:avLst/>
          </a:prstGeom>
          <a:solidFill>
            <a:srgbClr val="C4562A"/>
          </a:solidFill>
          <a:ln/>
        </p:spPr>
      </p:sp>
      <p:sp>
        <p:nvSpPr>
          <p:cNvPr id="15" name="Text 11"/>
          <p:cNvSpPr/>
          <p:nvPr/>
        </p:nvSpPr>
        <p:spPr>
          <a:xfrm>
            <a:off x="5321808" y="2313432"/>
            <a:ext cx="594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Refined</a:t>
            </a:r>
            <a:endParaRPr lang="en-US" sz="800" dirty="0"/>
          </a:p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117336" y="685800"/>
            <a:ext cx="2743200" cy="1600200"/>
          </a:xfrm>
          <a:prstGeom prst="rect">
            <a:avLst/>
          </a:prstGeom>
        </p:spPr>
      </p:pic>
      <p:sp>
        <p:nvSpPr>
          <p:cNvPr id="17" name="Shape 12"/>
          <p:cNvSpPr/>
          <p:nvPr/>
        </p:nvSpPr>
        <p:spPr>
          <a:xfrm>
            <a:off x="6117336" y="1920240"/>
            <a:ext cx="2743200" cy="365760"/>
          </a:xfrm>
          <a:prstGeom prst="rect">
            <a:avLst/>
          </a:prstGeom>
          <a:solidFill>
            <a:srgbClr val="0E1117">
              <a:alpha val="80000"/>
            </a:srgbClr>
          </a:solidFill>
          <a:ln/>
        </p:spPr>
      </p:sp>
      <p:sp>
        <p:nvSpPr>
          <p:cNvPr id="18" name="Text 13"/>
          <p:cNvSpPr/>
          <p:nvPr/>
        </p:nvSpPr>
        <p:spPr>
          <a:xfrm>
            <a:off x="6208776" y="1947672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Scene 03  Realisation Moment</a:t>
            </a:r>
            <a:endParaRPr lang="en-US" sz="1000" dirty="0"/>
          </a:p>
        </p:txBody>
      </p:sp>
      <p:sp>
        <p:nvSpPr>
          <p:cNvPr id="19" name="Text 14"/>
          <p:cNvSpPr/>
          <p:nvPr/>
        </p:nvSpPr>
        <p:spPr>
          <a:xfrm>
            <a:off x="6135624" y="231343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 Natural — Awareness</a:t>
            </a:r>
            <a:endParaRPr lang="en-US" sz="850" dirty="0"/>
          </a:p>
        </p:txBody>
      </p:sp>
      <p:sp>
        <p:nvSpPr>
          <p:cNvPr id="20" name="Shape 15"/>
          <p:cNvSpPr/>
          <p:nvPr/>
        </p:nvSpPr>
        <p:spPr>
          <a:xfrm>
            <a:off x="8266176" y="2313432"/>
            <a:ext cx="594360" cy="219456"/>
          </a:xfrm>
          <a:prstGeom prst="rect">
            <a:avLst/>
          </a:prstGeom>
          <a:solidFill>
            <a:srgbClr val="C4562A"/>
          </a:solidFill>
          <a:ln/>
        </p:spPr>
      </p:sp>
      <p:sp>
        <p:nvSpPr>
          <p:cNvPr id="21" name="Text 16"/>
          <p:cNvSpPr/>
          <p:nvPr/>
        </p:nvSpPr>
        <p:spPr>
          <a:xfrm>
            <a:off x="8266176" y="2313432"/>
            <a:ext cx="594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Refined</a:t>
            </a:r>
            <a:endParaRPr lang="en-US" sz="800" dirty="0"/>
          </a:p>
        </p:txBody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228600" y="2880360"/>
            <a:ext cx="2743200" cy="1600200"/>
          </a:xfrm>
          <a:prstGeom prst="rect">
            <a:avLst/>
          </a:prstGeom>
        </p:spPr>
      </p:pic>
      <p:sp>
        <p:nvSpPr>
          <p:cNvPr id="23" name="Shape 17"/>
          <p:cNvSpPr/>
          <p:nvPr/>
        </p:nvSpPr>
        <p:spPr>
          <a:xfrm>
            <a:off x="228600" y="4114800"/>
            <a:ext cx="2743200" cy="365760"/>
          </a:xfrm>
          <a:prstGeom prst="rect">
            <a:avLst/>
          </a:prstGeom>
          <a:solidFill>
            <a:srgbClr val="0E1117">
              <a:alpha val="80000"/>
            </a:srgbClr>
          </a:solidFill>
          <a:ln/>
        </p:spPr>
      </p:sp>
      <p:sp>
        <p:nvSpPr>
          <p:cNvPr id="24" name="Text 18"/>
          <p:cNvSpPr/>
          <p:nvPr/>
        </p:nvSpPr>
        <p:spPr>
          <a:xfrm>
            <a:off x="320040" y="4142232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Scene 04  Life Beyond Screen</a:t>
            </a:r>
            <a:endParaRPr lang="en-US" sz="1000" dirty="0"/>
          </a:p>
        </p:txBody>
      </p:sp>
      <p:sp>
        <p:nvSpPr>
          <p:cNvPr id="25" name="Text 19"/>
          <p:cNvSpPr/>
          <p:nvPr/>
        </p:nvSpPr>
        <p:spPr>
          <a:xfrm>
            <a:off x="246888" y="450799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Golden Hour — Park</a:t>
            </a:r>
            <a:endParaRPr lang="en-US" sz="850" dirty="0"/>
          </a:p>
        </p:txBody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3172968" y="2880360"/>
            <a:ext cx="2743200" cy="1600200"/>
          </a:xfrm>
          <a:prstGeom prst="rect">
            <a:avLst/>
          </a:prstGeom>
        </p:spPr>
      </p:pic>
      <p:sp>
        <p:nvSpPr>
          <p:cNvPr id="27" name="Shape 20"/>
          <p:cNvSpPr/>
          <p:nvPr/>
        </p:nvSpPr>
        <p:spPr>
          <a:xfrm>
            <a:off x="3172968" y="4114800"/>
            <a:ext cx="2743200" cy="365760"/>
          </a:xfrm>
          <a:prstGeom prst="rect">
            <a:avLst/>
          </a:prstGeom>
          <a:solidFill>
            <a:srgbClr val="0E1117">
              <a:alpha val="80000"/>
            </a:srgbClr>
          </a:solidFill>
          <a:ln/>
        </p:spPr>
      </p:sp>
      <p:sp>
        <p:nvSpPr>
          <p:cNvPr id="28" name="Text 21"/>
          <p:cNvSpPr/>
          <p:nvPr/>
        </p:nvSpPr>
        <p:spPr>
          <a:xfrm>
            <a:off x="3264408" y="4142232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Scene 05  Transformation</a:t>
            </a:r>
            <a:endParaRPr lang="en-US" sz="1000" dirty="0"/>
          </a:p>
        </p:txBody>
      </p:sp>
      <p:sp>
        <p:nvSpPr>
          <p:cNvPr id="29" name="Text 22"/>
          <p:cNvSpPr/>
          <p:nvPr/>
        </p:nvSpPr>
        <p:spPr>
          <a:xfrm>
            <a:off x="3191256" y="450799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Amber Warmth — Connection</a:t>
            </a:r>
            <a:endParaRPr lang="en-US" sz="850" dirty="0"/>
          </a:p>
        </p:txBody>
      </p:sp>
      <p:sp>
        <p:nvSpPr>
          <p:cNvPr id="30" name="Shape 23"/>
          <p:cNvSpPr/>
          <p:nvPr/>
        </p:nvSpPr>
        <p:spPr>
          <a:xfrm>
            <a:off x="5321808" y="4507992"/>
            <a:ext cx="594360" cy="219456"/>
          </a:xfrm>
          <a:prstGeom prst="rect">
            <a:avLst/>
          </a:prstGeom>
          <a:solidFill>
            <a:srgbClr val="C4562A"/>
          </a:solidFill>
          <a:ln/>
        </p:spPr>
      </p:sp>
      <p:sp>
        <p:nvSpPr>
          <p:cNvPr id="31" name="Text 24"/>
          <p:cNvSpPr/>
          <p:nvPr/>
        </p:nvSpPr>
        <p:spPr>
          <a:xfrm>
            <a:off x="5321808" y="4507992"/>
            <a:ext cx="594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Refined</a:t>
            </a:r>
            <a:endParaRPr lang="en-US" sz="800" dirty="0"/>
          </a:p>
        </p:txBody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6117336" y="2880360"/>
            <a:ext cx="2743200" cy="1600200"/>
          </a:xfrm>
          <a:prstGeom prst="rect">
            <a:avLst/>
          </a:prstGeom>
        </p:spPr>
      </p:pic>
      <p:sp>
        <p:nvSpPr>
          <p:cNvPr id="33" name="Shape 25"/>
          <p:cNvSpPr/>
          <p:nvPr/>
        </p:nvSpPr>
        <p:spPr>
          <a:xfrm>
            <a:off x="6117336" y="4114800"/>
            <a:ext cx="2743200" cy="365760"/>
          </a:xfrm>
          <a:prstGeom prst="rect">
            <a:avLst/>
          </a:prstGeom>
          <a:solidFill>
            <a:srgbClr val="0E1117">
              <a:alpha val="80000"/>
            </a:srgbClr>
          </a:solidFill>
          <a:ln/>
        </p:spPr>
      </p:sp>
      <p:sp>
        <p:nvSpPr>
          <p:cNvPr id="34" name="Text 26"/>
          <p:cNvSpPr/>
          <p:nvPr/>
        </p:nvSpPr>
        <p:spPr>
          <a:xfrm>
            <a:off x="6208776" y="4142232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Scene 06  Invitation (CTA)</a:t>
            </a:r>
            <a:endParaRPr lang="en-US" sz="1000" dirty="0"/>
          </a:p>
        </p:txBody>
      </p:sp>
      <p:sp>
        <p:nvSpPr>
          <p:cNvPr id="35" name="Text 27"/>
          <p:cNvSpPr/>
          <p:nvPr/>
        </p:nvSpPr>
        <p:spPr>
          <a:xfrm>
            <a:off x="6135624" y="450799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Cream Morning — Symbolic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E111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8A80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TASK 2  ·  PROMPT REFINEMENT  ·  BEFORE &amp; AFTER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80467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E11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Guardrails Improved Emotional Accuracy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138988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11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SCENE 2 — Emotional Fatigue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846320" y="138988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11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SCENE 5 — Transformation</a:t>
            </a:r>
            <a:endParaRPr lang="en-US" sz="13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719072"/>
            <a:ext cx="1874520" cy="141732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365760" y="1719072"/>
            <a:ext cx="1874520" cy="274320"/>
          </a:xfrm>
          <a:prstGeom prst="rect">
            <a:avLst/>
          </a:prstGeom>
          <a:solidFill>
            <a:srgbClr val="8A8070">
              <a:alpha val="85000"/>
            </a:srgbClr>
          </a:solidFill>
          <a:ln/>
        </p:spPr>
      </p:sp>
      <p:sp>
        <p:nvSpPr>
          <p:cNvPr id="9" name="Text 6"/>
          <p:cNvSpPr/>
          <p:nvPr/>
        </p:nvSpPr>
        <p:spPr>
          <a:xfrm>
            <a:off x="411480" y="1719072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V1 — Theatrical (rain added)</a:t>
            </a:r>
            <a:endParaRPr lang="en-US" sz="85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3160" y="1719072"/>
            <a:ext cx="1874520" cy="1417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2423160" y="1719072"/>
            <a:ext cx="1874520" cy="274320"/>
          </a:xfrm>
          <a:prstGeom prst="rect">
            <a:avLst/>
          </a:prstGeom>
          <a:solidFill>
            <a:srgbClr val="4A7C6A">
              <a:alpha val="85000"/>
            </a:srgbClr>
          </a:solidFill>
          <a:ln/>
        </p:spPr>
      </p:sp>
      <p:sp>
        <p:nvSpPr>
          <p:cNvPr id="12" name="Text 8"/>
          <p:cNvSpPr/>
          <p:nvPr/>
        </p:nvSpPr>
        <p:spPr>
          <a:xfrm>
            <a:off x="2468880" y="1719072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V2 — Subtle (hands flat, daylight)</a:t>
            </a:r>
            <a:endParaRPr lang="en-US" sz="85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0" y="1719072"/>
            <a:ext cx="1874520" cy="1417320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4846320" y="1719072"/>
            <a:ext cx="1874520" cy="274320"/>
          </a:xfrm>
          <a:prstGeom prst="rect">
            <a:avLst/>
          </a:prstGeom>
          <a:solidFill>
            <a:srgbClr val="8A8070">
              <a:alpha val="85000"/>
            </a:srgbClr>
          </a:solidFill>
          <a:ln/>
        </p:spPr>
      </p:sp>
      <p:sp>
        <p:nvSpPr>
          <p:cNvPr id="15" name="Text 10"/>
          <p:cNvSpPr/>
          <p:nvPr/>
        </p:nvSpPr>
        <p:spPr>
          <a:xfrm>
            <a:off x="4892040" y="1719072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V1 — Loud laughter (staged)</a:t>
            </a:r>
            <a:endParaRPr lang="en-US" sz="85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03720" y="1719072"/>
            <a:ext cx="1874520" cy="14173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6903720" y="1719072"/>
            <a:ext cx="1874520" cy="274320"/>
          </a:xfrm>
          <a:prstGeom prst="rect">
            <a:avLst/>
          </a:prstGeom>
          <a:solidFill>
            <a:srgbClr val="4A7C6A">
              <a:alpha val="85000"/>
            </a:srgbClr>
          </a:solidFill>
          <a:ln/>
        </p:spPr>
      </p:sp>
      <p:sp>
        <p:nvSpPr>
          <p:cNvPr id="18" name="Text 12"/>
          <p:cNvSpPr/>
          <p:nvPr/>
        </p:nvSpPr>
        <p:spPr>
          <a:xfrm>
            <a:off x="6949440" y="1719072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V2 — Soft smile, mid-conversation</a:t>
            </a:r>
            <a:endParaRPr lang="en-US" sz="850" dirty="0"/>
          </a:p>
        </p:txBody>
      </p:sp>
      <p:sp>
        <p:nvSpPr>
          <p:cNvPr id="19" name="Shape 13"/>
          <p:cNvSpPr/>
          <p:nvPr/>
        </p:nvSpPr>
        <p:spPr>
          <a:xfrm>
            <a:off x="365760" y="3264408"/>
            <a:ext cx="841248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0" name="Shape 14"/>
          <p:cNvSpPr/>
          <p:nvPr/>
        </p:nvSpPr>
        <p:spPr>
          <a:xfrm>
            <a:off x="365760" y="3264408"/>
            <a:ext cx="8412480" cy="64008"/>
          </a:xfrm>
          <a:prstGeom prst="rect">
            <a:avLst/>
          </a:prstGeom>
          <a:solidFill>
            <a:srgbClr val="C4562A"/>
          </a:solidFill>
          <a:ln/>
        </p:spPr>
      </p:sp>
      <p:sp>
        <p:nvSpPr>
          <p:cNvPr id="21" name="Text 15"/>
          <p:cNvSpPr/>
          <p:nvPr/>
        </p:nvSpPr>
        <p:spPr>
          <a:xfrm>
            <a:off x="548640" y="3364992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8A80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 LESSONS FROM VISUAL REFINEMENT</a:t>
            </a:r>
            <a:endParaRPr lang="en-US" sz="900" dirty="0"/>
          </a:p>
        </p:txBody>
      </p:sp>
      <p:sp>
        <p:nvSpPr>
          <p:cNvPr id="22" name="Shape 16"/>
          <p:cNvSpPr/>
          <p:nvPr/>
        </p:nvSpPr>
        <p:spPr>
          <a:xfrm>
            <a:off x="548640" y="3712464"/>
            <a:ext cx="164592" cy="164592"/>
          </a:xfrm>
          <a:prstGeom prst="ellipse">
            <a:avLst/>
          </a:prstGeom>
          <a:solidFill>
            <a:srgbClr val="C4562A"/>
          </a:solidFill>
          <a:ln/>
        </p:spPr>
      </p:sp>
      <p:sp>
        <p:nvSpPr>
          <p:cNvPr id="23" name="Text 17"/>
          <p:cNvSpPr/>
          <p:nvPr/>
        </p:nvSpPr>
        <p:spPr>
          <a:xfrm>
            <a:off x="804672" y="3675888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3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defaults to drama — rain, loud laughter, bowed heads all added theatrical emotion that contradicted the campaign's subtlety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548640" y="4059936"/>
            <a:ext cx="164592" cy="164592"/>
          </a:xfrm>
          <a:prstGeom prst="ellipse">
            <a:avLst/>
          </a:prstGeom>
          <a:solidFill>
            <a:srgbClr val="C4562A"/>
          </a:solidFill>
          <a:ln/>
        </p:spPr>
      </p:sp>
      <p:sp>
        <p:nvSpPr>
          <p:cNvPr id="25" name="Text 19"/>
          <p:cNvSpPr/>
          <p:nvPr/>
        </p:nvSpPr>
        <p:spPr>
          <a:xfrm>
            <a:off x="804672" y="4023360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3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 guardrails in prompts ('not dramatic', 'hands flat', 'soft smile mid-conversation') directly overrode AI's theatrical defaults</a:t>
            </a:r>
            <a:endParaRPr lang="en-US" sz="1100" dirty="0"/>
          </a:p>
        </p:txBody>
      </p:sp>
      <p:sp>
        <p:nvSpPr>
          <p:cNvPr id="26" name="Shape 20"/>
          <p:cNvSpPr/>
          <p:nvPr/>
        </p:nvSpPr>
        <p:spPr>
          <a:xfrm>
            <a:off x="548640" y="4407408"/>
            <a:ext cx="164592" cy="164592"/>
          </a:xfrm>
          <a:prstGeom prst="ellipse">
            <a:avLst/>
          </a:prstGeom>
          <a:solidFill>
            <a:srgbClr val="C4562A"/>
          </a:solidFill>
          <a:ln/>
        </p:spPr>
      </p:sp>
      <p:sp>
        <p:nvSpPr>
          <p:cNvPr id="27" name="Text 21"/>
          <p:cNvSpPr/>
          <p:nvPr/>
        </p:nvSpPr>
        <p:spPr>
          <a:xfrm>
            <a:off x="804672" y="4370832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3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Colour arc from cold blue (Scene 1) → golden warmth (Scene 4-6) creates the emotional progression without words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1F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D494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5943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0" kern="0" dirty="0">
                <a:solidFill>
                  <a:srgbClr val="D494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TASK 03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1051560"/>
            <a:ext cx="82296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Awareness Engagement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Workflow in n8n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457200" y="32461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D5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Webhook  ·  Smart Categorisation  ·  Personalised Email  ·  Google Sheets Logging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0" y="3977640"/>
            <a:ext cx="9144000" cy="1170432"/>
          </a:xfrm>
          <a:prstGeom prst="rect">
            <a:avLst/>
          </a:prstGeom>
          <a:solidFill>
            <a:srgbClr val="111827"/>
          </a:solidFill>
          <a:ln/>
        </p:spPr>
      </p:sp>
      <p:sp>
        <p:nvSpPr>
          <p:cNvPr id="7" name="Shape 5"/>
          <p:cNvSpPr/>
          <p:nvPr/>
        </p:nvSpPr>
        <p:spPr>
          <a:xfrm>
            <a:off x="347472" y="4133088"/>
            <a:ext cx="1188720" cy="457200"/>
          </a:xfrm>
          <a:prstGeom prst="rect">
            <a:avLst/>
          </a:prstGeom>
          <a:solidFill>
            <a:srgbClr val="0E1117"/>
          </a:solidFill>
          <a:ln/>
        </p:spPr>
      </p:sp>
      <p:sp>
        <p:nvSpPr>
          <p:cNvPr id="8" name="Shape 6"/>
          <p:cNvSpPr/>
          <p:nvPr/>
        </p:nvSpPr>
        <p:spPr>
          <a:xfrm>
            <a:off x="347472" y="4133088"/>
            <a:ext cx="1188720" cy="45720"/>
          </a:xfrm>
          <a:prstGeom prst="rect">
            <a:avLst/>
          </a:prstGeom>
          <a:solidFill>
            <a:srgbClr val="D4943A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4133088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Webhook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536192" y="4334256"/>
            <a:ext cx="274320" cy="36576"/>
          </a:xfrm>
          <a:prstGeom prst="rect">
            <a:avLst/>
          </a:prstGeom>
          <a:solidFill>
            <a:srgbClr val="D4943A"/>
          </a:solidFill>
          <a:ln/>
        </p:spPr>
      </p:sp>
      <p:sp>
        <p:nvSpPr>
          <p:cNvPr id="11" name="Shape 9"/>
          <p:cNvSpPr/>
          <p:nvPr/>
        </p:nvSpPr>
        <p:spPr>
          <a:xfrm>
            <a:off x="1810512" y="4133088"/>
            <a:ext cx="1188720" cy="457200"/>
          </a:xfrm>
          <a:prstGeom prst="rect">
            <a:avLst/>
          </a:prstGeom>
          <a:solidFill>
            <a:srgbClr val="0E1117"/>
          </a:solidFill>
          <a:ln/>
        </p:spPr>
      </p:sp>
      <p:sp>
        <p:nvSpPr>
          <p:cNvPr id="12" name="Shape 10"/>
          <p:cNvSpPr/>
          <p:nvPr/>
        </p:nvSpPr>
        <p:spPr>
          <a:xfrm>
            <a:off x="1810512" y="4133088"/>
            <a:ext cx="1188720" cy="45720"/>
          </a:xfrm>
          <a:prstGeom prst="rect">
            <a:avLst/>
          </a:prstGeom>
          <a:solidFill>
            <a:srgbClr val="D4943A"/>
          </a:solidFill>
          <a:ln/>
        </p:spPr>
      </p:sp>
      <p:sp>
        <p:nvSpPr>
          <p:cNvPr id="13" name="Text 11"/>
          <p:cNvSpPr/>
          <p:nvPr/>
        </p:nvSpPr>
        <p:spPr>
          <a:xfrm>
            <a:off x="1810512" y="4133088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Edit Fields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999232" y="4334256"/>
            <a:ext cx="274320" cy="36576"/>
          </a:xfrm>
          <a:prstGeom prst="rect">
            <a:avLst/>
          </a:prstGeom>
          <a:solidFill>
            <a:srgbClr val="D4943A"/>
          </a:solidFill>
          <a:ln/>
        </p:spPr>
      </p:sp>
      <p:sp>
        <p:nvSpPr>
          <p:cNvPr id="15" name="Shape 13"/>
          <p:cNvSpPr/>
          <p:nvPr/>
        </p:nvSpPr>
        <p:spPr>
          <a:xfrm>
            <a:off x="3273552" y="4133088"/>
            <a:ext cx="1188720" cy="457200"/>
          </a:xfrm>
          <a:prstGeom prst="rect">
            <a:avLst/>
          </a:prstGeom>
          <a:solidFill>
            <a:srgbClr val="0E1117"/>
          </a:solidFill>
          <a:ln/>
        </p:spPr>
      </p:sp>
      <p:sp>
        <p:nvSpPr>
          <p:cNvPr id="16" name="Shape 14"/>
          <p:cNvSpPr/>
          <p:nvPr/>
        </p:nvSpPr>
        <p:spPr>
          <a:xfrm>
            <a:off x="3273552" y="4133088"/>
            <a:ext cx="1188720" cy="45720"/>
          </a:xfrm>
          <a:prstGeom prst="rect">
            <a:avLst/>
          </a:prstGeom>
          <a:solidFill>
            <a:srgbClr val="D4943A"/>
          </a:solidFill>
          <a:ln/>
        </p:spPr>
      </p:sp>
      <p:sp>
        <p:nvSpPr>
          <p:cNvPr id="17" name="Text 15"/>
          <p:cNvSpPr/>
          <p:nvPr/>
        </p:nvSpPr>
        <p:spPr>
          <a:xfrm>
            <a:off x="3273552" y="4133088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Google Sheets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462272" y="4334256"/>
            <a:ext cx="274320" cy="36576"/>
          </a:xfrm>
          <a:prstGeom prst="rect">
            <a:avLst/>
          </a:prstGeom>
          <a:solidFill>
            <a:srgbClr val="D4943A"/>
          </a:solidFill>
          <a:ln/>
        </p:spPr>
      </p:sp>
      <p:sp>
        <p:nvSpPr>
          <p:cNvPr id="19" name="Shape 17"/>
          <p:cNvSpPr/>
          <p:nvPr/>
        </p:nvSpPr>
        <p:spPr>
          <a:xfrm>
            <a:off x="4736592" y="4133088"/>
            <a:ext cx="1188720" cy="457200"/>
          </a:xfrm>
          <a:prstGeom prst="rect">
            <a:avLst/>
          </a:prstGeom>
          <a:solidFill>
            <a:srgbClr val="C4562A"/>
          </a:solidFill>
          <a:ln/>
        </p:spPr>
      </p:sp>
      <p:sp>
        <p:nvSpPr>
          <p:cNvPr id="20" name="Shape 18"/>
          <p:cNvSpPr/>
          <p:nvPr/>
        </p:nvSpPr>
        <p:spPr>
          <a:xfrm>
            <a:off x="4736592" y="4133088"/>
            <a:ext cx="1188720" cy="45720"/>
          </a:xfrm>
          <a:prstGeom prst="rect">
            <a:avLst/>
          </a:prstGeom>
          <a:solidFill>
            <a:srgbClr val="D4943A"/>
          </a:solidFill>
          <a:ln/>
        </p:spPr>
      </p:sp>
      <p:sp>
        <p:nvSpPr>
          <p:cNvPr id="21" name="Text 19"/>
          <p:cNvSpPr/>
          <p:nvPr/>
        </p:nvSpPr>
        <p:spPr>
          <a:xfrm>
            <a:off x="4736592" y="4133088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Switch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925312" y="4334256"/>
            <a:ext cx="274320" cy="36576"/>
          </a:xfrm>
          <a:prstGeom prst="rect">
            <a:avLst/>
          </a:prstGeom>
          <a:solidFill>
            <a:srgbClr val="D4943A"/>
          </a:solidFill>
          <a:ln/>
        </p:spPr>
      </p:sp>
      <p:sp>
        <p:nvSpPr>
          <p:cNvPr id="23" name="Shape 21"/>
          <p:cNvSpPr/>
          <p:nvPr/>
        </p:nvSpPr>
        <p:spPr>
          <a:xfrm>
            <a:off x="6199632" y="4133088"/>
            <a:ext cx="1188720" cy="457200"/>
          </a:xfrm>
          <a:prstGeom prst="rect">
            <a:avLst/>
          </a:prstGeom>
          <a:solidFill>
            <a:srgbClr val="0E1117"/>
          </a:solidFill>
          <a:ln/>
        </p:spPr>
      </p:sp>
      <p:sp>
        <p:nvSpPr>
          <p:cNvPr id="24" name="Shape 22"/>
          <p:cNvSpPr/>
          <p:nvPr/>
        </p:nvSpPr>
        <p:spPr>
          <a:xfrm>
            <a:off x="6199632" y="4133088"/>
            <a:ext cx="1188720" cy="45720"/>
          </a:xfrm>
          <a:prstGeom prst="rect">
            <a:avLst/>
          </a:prstGeom>
          <a:solidFill>
            <a:srgbClr val="D4943A"/>
          </a:solidFill>
          <a:ln/>
        </p:spPr>
      </p:sp>
      <p:sp>
        <p:nvSpPr>
          <p:cNvPr id="25" name="Text 23"/>
          <p:cNvSpPr/>
          <p:nvPr/>
        </p:nvSpPr>
        <p:spPr>
          <a:xfrm>
            <a:off x="6199632" y="4133088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Gmail ×3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7388352" y="4334256"/>
            <a:ext cx="274320" cy="36576"/>
          </a:xfrm>
          <a:prstGeom prst="rect">
            <a:avLst/>
          </a:prstGeom>
          <a:solidFill>
            <a:srgbClr val="D4943A"/>
          </a:solidFill>
          <a:ln/>
        </p:spPr>
      </p:sp>
      <p:sp>
        <p:nvSpPr>
          <p:cNvPr id="27" name="Shape 25"/>
          <p:cNvSpPr/>
          <p:nvPr/>
        </p:nvSpPr>
        <p:spPr>
          <a:xfrm>
            <a:off x="7662672" y="4133088"/>
            <a:ext cx="1188720" cy="457200"/>
          </a:xfrm>
          <a:prstGeom prst="rect">
            <a:avLst/>
          </a:prstGeom>
          <a:solidFill>
            <a:srgbClr val="0E1117"/>
          </a:solidFill>
          <a:ln/>
        </p:spPr>
      </p:sp>
      <p:sp>
        <p:nvSpPr>
          <p:cNvPr id="28" name="Shape 26"/>
          <p:cNvSpPr/>
          <p:nvPr/>
        </p:nvSpPr>
        <p:spPr>
          <a:xfrm>
            <a:off x="7662672" y="4133088"/>
            <a:ext cx="1188720" cy="45720"/>
          </a:xfrm>
          <a:prstGeom prst="rect">
            <a:avLst/>
          </a:prstGeom>
          <a:solidFill>
            <a:srgbClr val="D4943A"/>
          </a:solidFill>
          <a:ln/>
        </p:spPr>
      </p:sp>
      <p:sp>
        <p:nvSpPr>
          <p:cNvPr id="29" name="Text 27"/>
          <p:cNvSpPr/>
          <p:nvPr/>
        </p:nvSpPr>
        <p:spPr>
          <a:xfrm>
            <a:off x="7662672" y="4133088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 Action ×3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E111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8A80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TASK 3  ·  WORKFLOW ARCHITECTURE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E11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the Automation Works — Node by Node</a:t>
            </a:r>
            <a:endParaRPr lang="en-US" sz="24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65760" y="1325880"/>
            <a:ext cx="8412480" cy="16916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365760" y="3246120"/>
            <a:ext cx="2697480" cy="17190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365760" y="3246120"/>
            <a:ext cx="2697480" cy="384048"/>
          </a:xfrm>
          <a:prstGeom prst="rect">
            <a:avLst/>
          </a:prstGeom>
          <a:solidFill>
            <a:srgbClr val="C4562A"/>
          </a:solidFill>
          <a:ln/>
        </p:spPr>
      </p:sp>
      <p:sp>
        <p:nvSpPr>
          <p:cNvPr id="8" name="Text 5"/>
          <p:cNvSpPr/>
          <p:nvPr/>
        </p:nvSpPr>
        <p:spPr>
          <a:xfrm>
            <a:off x="475488" y="324612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High Risk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783080" y="324612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Screen Time ≥ 8 hrs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475488" y="3657600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E11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"We see you — and we've got your back"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475488" y="4160520"/>
            <a:ext cx="2468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Encouragement + peer support resources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3218688" y="3246120"/>
            <a:ext cx="2697480" cy="17190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218688" y="3246120"/>
            <a:ext cx="2697480" cy="384048"/>
          </a:xfrm>
          <a:prstGeom prst="rect">
            <a:avLst/>
          </a:prstGeom>
          <a:solidFill>
            <a:srgbClr val="D4943A"/>
          </a:solidFill>
          <a:ln/>
        </p:spPr>
      </p:sp>
      <p:sp>
        <p:nvSpPr>
          <p:cNvPr id="14" name="Text 11"/>
          <p:cNvSpPr/>
          <p:nvPr/>
        </p:nvSpPr>
        <p:spPr>
          <a:xfrm>
            <a:off x="3328416" y="324612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Moderate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4636008" y="324612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Screen Time ≥ 4 hrs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3328416" y="3657600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E11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"A week that could change how you feel"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3328416" y="4160520"/>
            <a:ext cx="2468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Educational content + habit formation guide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6071616" y="3246120"/>
            <a:ext cx="2697480" cy="17190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6071616" y="3246120"/>
            <a:ext cx="2697480" cy="384048"/>
          </a:xfrm>
          <a:prstGeom prst="rect">
            <a:avLst/>
          </a:prstGeom>
          <a:solidFill>
            <a:srgbClr val="4A7C6A"/>
          </a:solidFill>
          <a:ln/>
        </p:spPr>
      </p:sp>
      <p:sp>
        <p:nvSpPr>
          <p:cNvPr id="20" name="Text 17"/>
          <p:cNvSpPr/>
          <p:nvPr/>
        </p:nvSpPr>
        <p:spPr>
          <a:xfrm>
            <a:off x="6181344" y="324612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Low Usage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7488936" y="324612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Screen Time &lt; 4 hrs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6181344" y="3657600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E11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"You're already ahead — help others get here"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6181344" y="4160520"/>
            <a:ext cx="2468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Participation confirmation + peer invite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E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D494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8A80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TASK 3  ·  DESIGN REASONING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These Decisions Were Made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47472" y="1261872"/>
            <a:ext cx="4114800" cy="3566160"/>
          </a:xfrm>
          <a:prstGeom prst="rect">
            <a:avLst/>
          </a:prstGeom>
          <a:solidFill>
            <a:srgbClr val="1A1F35"/>
          </a:solidFill>
          <a:ln/>
        </p:spPr>
      </p:sp>
      <p:sp>
        <p:nvSpPr>
          <p:cNvPr id="6" name="Shape 4"/>
          <p:cNvSpPr/>
          <p:nvPr/>
        </p:nvSpPr>
        <p:spPr>
          <a:xfrm>
            <a:off x="347472" y="1261872"/>
            <a:ext cx="4114800" cy="64008"/>
          </a:xfrm>
          <a:prstGeom prst="rect">
            <a:avLst/>
          </a:prstGeom>
          <a:solidFill>
            <a:srgbClr val="D4943A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13716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D494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CATEGORISATION THRESHOLDS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02920" y="1764792"/>
            <a:ext cx="3749040" cy="594360"/>
          </a:xfrm>
          <a:prstGeom prst="rect">
            <a:avLst/>
          </a:prstGeom>
          <a:solidFill>
            <a:srgbClr val="0E1117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801368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94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 hrs threshold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2029968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D5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recreational screen time guideline for adults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02920" y="2478024"/>
            <a:ext cx="3749040" cy="594360"/>
          </a:xfrm>
          <a:prstGeom prst="rect">
            <a:avLst/>
          </a:prstGeom>
          <a:solidFill>
            <a:srgbClr val="0E1117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251460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94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 hrs threshold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0080" y="2743200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D5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working day equivalent — correlates with anxiety markers in research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02920" y="3191256"/>
            <a:ext cx="3749040" cy="594360"/>
          </a:xfrm>
          <a:prstGeom prst="rect">
            <a:avLst/>
          </a:prstGeom>
          <a:solidFill>
            <a:srgbClr val="0E1117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3227832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94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 categories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0080" y="3456432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D5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Balances personalisation with NGO operational capacity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02920" y="3904488"/>
            <a:ext cx="3749040" cy="594360"/>
          </a:xfrm>
          <a:prstGeom prst="rect">
            <a:avLst/>
          </a:prstGeom>
          <a:solidFill>
            <a:srgbClr val="0E1117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3941064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94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Self-report bias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40080" y="4169664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D5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underestimate screen time by 20–30% — thresholds account for this conservatively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681728" y="1261872"/>
            <a:ext cx="4114800" cy="3566160"/>
          </a:xfrm>
          <a:prstGeom prst="rect">
            <a:avLst/>
          </a:prstGeom>
          <a:solidFill>
            <a:srgbClr val="1A1F35"/>
          </a:solidFill>
          <a:ln/>
        </p:spPr>
      </p:sp>
      <p:sp>
        <p:nvSpPr>
          <p:cNvPr id="21" name="Shape 19"/>
          <p:cNvSpPr/>
          <p:nvPr/>
        </p:nvSpPr>
        <p:spPr>
          <a:xfrm>
            <a:off x="4681728" y="1261872"/>
            <a:ext cx="4114800" cy="64008"/>
          </a:xfrm>
          <a:prstGeom prst="rect">
            <a:avLst/>
          </a:prstGeom>
          <a:solidFill>
            <a:srgbClr val="C4562A"/>
          </a:solidFill>
          <a:ln/>
        </p:spPr>
      </p:sp>
      <p:sp>
        <p:nvSpPr>
          <p:cNvPr id="22" name="Text 20"/>
          <p:cNvSpPr/>
          <p:nvPr/>
        </p:nvSpPr>
        <p:spPr>
          <a:xfrm>
            <a:off x="4828032" y="13716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C456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EDGE CASES &amp; NATIONAL SCALE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828032" y="1792224"/>
            <a:ext cx="164592" cy="164592"/>
          </a:xfrm>
          <a:prstGeom prst="ellipse">
            <a:avLst/>
          </a:prstGeom>
          <a:solidFill>
            <a:srgbClr val="C4562A"/>
          </a:solidFill>
          <a:ln/>
        </p:spPr>
      </p:sp>
      <p:sp>
        <p:nvSpPr>
          <p:cNvPr id="24" name="Text 22"/>
          <p:cNvSpPr/>
          <p:nvPr/>
        </p:nvSpPr>
        <p:spPr>
          <a:xfrm>
            <a:off x="5074920" y="1764792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D5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input '6-8 hours' — not numeric, breaks Switch logic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828032" y="2267712"/>
            <a:ext cx="164592" cy="164592"/>
          </a:xfrm>
          <a:prstGeom prst="ellipse">
            <a:avLst/>
          </a:prstGeom>
          <a:solidFill>
            <a:srgbClr val="C4562A"/>
          </a:solidFill>
          <a:ln/>
        </p:spPr>
      </p:sp>
      <p:sp>
        <p:nvSpPr>
          <p:cNvPr id="26" name="Text 24"/>
          <p:cNvSpPr/>
          <p:nvPr/>
        </p:nvSpPr>
        <p:spPr>
          <a:xfrm>
            <a:off x="5074920" y="2240280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D5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submissions — no deduplication currently built in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828032" y="2743200"/>
            <a:ext cx="164592" cy="164592"/>
          </a:xfrm>
          <a:prstGeom prst="ellipse">
            <a:avLst/>
          </a:prstGeom>
          <a:solidFill>
            <a:srgbClr val="C4562A"/>
          </a:solidFill>
          <a:ln/>
        </p:spPr>
      </p:sp>
      <p:sp>
        <p:nvSpPr>
          <p:cNvPr id="28" name="Text 26"/>
          <p:cNvSpPr/>
          <p:nvPr/>
        </p:nvSpPr>
        <p:spPr>
          <a:xfrm>
            <a:off x="5074920" y="2715768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D5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Sheets API rate limits — 100 req/100 sec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828032" y="3337560"/>
            <a:ext cx="3749040" cy="54864"/>
          </a:xfrm>
          <a:prstGeom prst="rect">
            <a:avLst/>
          </a:prstGeom>
          <a:solidFill>
            <a:srgbClr val="8A8070">
              <a:alpha val="5000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4828032" y="3456432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D494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 SCALE NATIONALLY: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828032" y="3749040"/>
            <a:ext cx="201168" cy="201168"/>
          </a:xfrm>
          <a:prstGeom prst="rect">
            <a:avLst/>
          </a:prstGeom>
          <a:solidFill>
            <a:srgbClr val="4A7C6A"/>
          </a:solidFill>
          <a:ln/>
        </p:spPr>
      </p:sp>
      <p:sp>
        <p:nvSpPr>
          <p:cNvPr id="32" name="Text 30"/>
          <p:cNvSpPr/>
          <p:nvPr/>
        </p:nvSpPr>
        <p:spPr>
          <a:xfrm>
            <a:off x="5120640" y="3730752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5E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Queue-based n8n trigger + concurrency limits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4828032" y="4096512"/>
            <a:ext cx="201168" cy="201168"/>
          </a:xfrm>
          <a:prstGeom prst="rect">
            <a:avLst/>
          </a:prstGeom>
          <a:solidFill>
            <a:srgbClr val="4A7C6A"/>
          </a:solidFill>
          <a:ln/>
        </p:spPr>
      </p:sp>
      <p:sp>
        <p:nvSpPr>
          <p:cNvPr id="34" name="Text 32"/>
          <p:cNvSpPr/>
          <p:nvPr/>
        </p:nvSpPr>
        <p:spPr>
          <a:xfrm>
            <a:off x="5120640" y="4078224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5E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(Supabase) instead of Google Sheets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4828032" y="4443984"/>
            <a:ext cx="201168" cy="201168"/>
          </a:xfrm>
          <a:prstGeom prst="rect">
            <a:avLst/>
          </a:prstGeom>
          <a:solidFill>
            <a:srgbClr val="4A7C6A"/>
          </a:solidFill>
          <a:ln/>
        </p:spPr>
      </p:sp>
      <p:sp>
        <p:nvSpPr>
          <p:cNvPr id="36" name="Text 34"/>
          <p:cNvSpPr/>
          <p:nvPr/>
        </p:nvSpPr>
        <p:spPr>
          <a:xfrm>
            <a:off x="5120640" y="4425696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5E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SendGrid / Mailgun for high-volume email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E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669280" y="0"/>
            <a:ext cx="347472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669280" y="0"/>
            <a:ext cx="3474720" cy="5143500"/>
          </a:xfrm>
          <a:prstGeom prst="rect">
            <a:avLst/>
          </a:prstGeom>
          <a:solidFill>
            <a:srgbClr val="0E1117">
              <a:alpha val="5500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C4562A"/>
          </a:solidFill>
          <a:ln/>
        </p:spPr>
      </p:sp>
      <p:sp>
        <p:nvSpPr>
          <p:cNvPr id="5" name="Text 2"/>
          <p:cNvSpPr/>
          <p:nvPr/>
        </p:nvSpPr>
        <p:spPr>
          <a:xfrm>
            <a:off x="457200" y="41148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8A80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SUMMARY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457200" y="731520"/>
            <a:ext cx="50292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This System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Delivers Together</a:t>
            </a:r>
            <a:endParaRPr lang="en-US" sz="3600" dirty="0"/>
          </a:p>
        </p:txBody>
      </p:sp>
      <p:sp>
        <p:nvSpPr>
          <p:cNvPr id="7" name="Shape 4"/>
          <p:cNvSpPr/>
          <p:nvPr/>
        </p:nvSpPr>
        <p:spPr>
          <a:xfrm>
            <a:off x="347472" y="2395728"/>
            <a:ext cx="5166360" cy="685800"/>
          </a:xfrm>
          <a:prstGeom prst="rect">
            <a:avLst/>
          </a:prstGeom>
          <a:solidFill>
            <a:srgbClr val="1A1F35"/>
          </a:solidFill>
          <a:ln/>
        </p:spPr>
      </p:sp>
      <p:sp>
        <p:nvSpPr>
          <p:cNvPr id="8" name="Shape 5"/>
          <p:cNvSpPr/>
          <p:nvPr/>
        </p:nvSpPr>
        <p:spPr>
          <a:xfrm>
            <a:off x="347472" y="2395728"/>
            <a:ext cx="777240" cy="685800"/>
          </a:xfrm>
          <a:prstGeom prst="rect">
            <a:avLst/>
          </a:prstGeom>
          <a:solidFill>
            <a:srgbClr val="C4562A"/>
          </a:solidFill>
          <a:ln/>
        </p:spPr>
      </p:sp>
      <p:sp>
        <p:nvSpPr>
          <p:cNvPr id="9" name="Text 6"/>
          <p:cNvSpPr/>
          <p:nvPr/>
        </p:nvSpPr>
        <p:spPr>
          <a:xfrm>
            <a:off x="347472" y="2395728"/>
            <a:ext cx="777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Task 1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1207008" y="2395728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E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E.M.P.A.T.H. framework — ethically responsible V3 campaign script through 2-iteration refinement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47472" y="3200400"/>
            <a:ext cx="5166360" cy="685800"/>
          </a:xfrm>
          <a:prstGeom prst="rect">
            <a:avLst/>
          </a:prstGeom>
          <a:solidFill>
            <a:srgbClr val="1A1F35"/>
          </a:solidFill>
          <a:ln/>
        </p:spPr>
      </p:sp>
      <p:sp>
        <p:nvSpPr>
          <p:cNvPr id="12" name="Shape 9"/>
          <p:cNvSpPr/>
          <p:nvPr/>
        </p:nvSpPr>
        <p:spPr>
          <a:xfrm>
            <a:off x="347472" y="3200400"/>
            <a:ext cx="777240" cy="685800"/>
          </a:xfrm>
          <a:prstGeom prst="rect">
            <a:avLst/>
          </a:prstGeom>
          <a:solidFill>
            <a:srgbClr val="C4562A"/>
          </a:solidFill>
          <a:ln/>
        </p:spPr>
      </p:sp>
      <p:sp>
        <p:nvSpPr>
          <p:cNvPr id="13" name="Text 10"/>
          <p:cNvSpPr/>
          <p:nvPr/>
        </p:nvSpPr>
        <p:spPr>
          <a:xfrm>
            <a:off x="347472" y="3200400"/>
            <a:ext cx="777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Task 2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1207008" y="3200400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E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6-scene cinematic arc — 4 scenes refined, cold→warm emotional colour journey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347472" y="4005072"/>
            <a:ext cx="5166360" cy="685800"/>
          </a:xfrm>
          <a:prstGeom prst="rect">
            <a:avLst/>
          </a:prstGeom>
          <a:solidFill>
            <a:srgbClr val="1A1F35"/>
          </a:solidFill>
          <a:ln/>
        </p:spPr>
      </p:sp>
      <p:sp>
        <p:nvSpPr>
          <p:cNvPr id="16" name="Shape 13"/>
          <p:cNvSpPr/>
          <p:nvPr/>
        </p:nvSpPr>
        <p:spPr>
          <a:xfrm>
            <a:off x="347472" y="4005072"/>
            <a:ext cx="777240" cy="685800"/>
          </a:xfrm>
          <a:prstGeom prst="rect">
            <a:avLst/>
          </a:prstGeom>
          <a:solidFill>
            <a:srgbClr val="C4562A"/>
          </a:solidFill>
          <a:ln/>
        </p:spPr>
      </p:sp>
      <p:sp>
        <p:nvSpPr>
          <p:cNvPr id="17" name="Text 14"/>
          <p:cNvSpPr/>
          <p:nvPr/>
        </p:nvSpPr>
        <p:spPr>
          <a:xfrm>
            <a:off x="347472" y="4005072"/>
            <a:ext cx="777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Task 3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1207008" y="4005072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E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n8n workflow — 3-category personalised email system tested &amp; verified with Postman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347472" y="4736592"/>
            <a:ext cx="5166360" cy="274320"/>
          </a:xfrm>
          <a:prstGeom prst="rect">
            <a:avLst/>
          </a:prstGeom>
          <a:solidFill>
            <a:srgbClr val="C4562A"/>
          </a:solidFill>
          <a:ln/>
        </p:spPr>
      </p:sp>
      <p:sp>
        <p:nvSpPr>
          <p:cNvPr id="20" name="Text 17"/>
          <p:cNvSpPr/>
          <p:nvPr/>
        </p:nvSpPr>
        <p:spPr>
          <a:xfrm>
            <a:off x="457200" y="4736592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Digital Detox Week — Reclaim Your Mind  ·  AI Programme Final Project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Digital Detox Week — Reclaim Your Mind</dc:title>
  <dc:subject>PptxGenJS Presentation</dc:subject>
  <dc:creator>PptxGenJS</dc:creator>
  <cp:lastModifiedBy>PptxGenJS</cp:lastModifiedBy>
  <cp:revision>1</cp:revision>
  <dcterms:created xsi:type="dcterms:W3CDTF">2026-03-08T05:14:15Z</dcterms:created>
  <dcterms:modified xsi:type="dcterms:W3CDTF">2026-03-08T05:14:15Z</dcterms:modified>
</cp:coreProperties>
</file>